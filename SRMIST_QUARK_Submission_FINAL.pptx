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Georgia Bold" charset="1" panose="02040802050405020203"/>
      <p:regular r:id="rId19"/>
    </p:embeddedFont>
    <p:embeddedFont>
      <p:font typeface="Arial" charset="1" panose="020B060402020202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ourier New" charset="1" panose="020703090202050204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7755" y="1087755"/>
            <a:ext cx="6191250" cy="704850"/>
            <a:chOff x="0" y="0"/>
            <a:chExt cx="8255000" cy="93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55000" cy="939800"/>
            </a:xfrm>
            <a:custGeom>
              <a:avLst/>
              <a:gdLst/>
              <a:ahLst/>
              <a:cxnLst/>
              <a:rect r="r" b="b" t="t" l="l"/>
              <a:pathLst>
                <a:path h="939800" w="8255000">
                  <a:moveTo>
                    <a:pt x="0" y="156591"/>
                  </a:moveTo>
                  <a:cubicBezTo>
                    <a:pt x="0" y="70104"/>
                    <a:pt x="70104" y="0"/>
                    <a:pt x="156591" y="0"/>
                  </a:cubicBezTo>
                  <a:lnTo>
                    <a:pt x="8098409" y="0"/>
                  </a:lnTo>
                  <a:cubicBezTo>
                    <a:pt x="8184896" y="0"/>
                    <a:pt x="8255000" y="70104"/>
                    <a:pt x="8255000" y="156591"/>
                  </a:cubicBezTo>
                  <a:lnTo>
                    <a:pt x="8255000" y="783209"/>
                  </a:lnTo>
                  <a:cubicBezTo>
                    <a:pt x="8255000" y="869696"/>
                    <a:pt x="8184896" y="939800"/>
                    <a:pt x="8098409" y="939800"/>
                  </a:cubicBezTo>
                  <a:lnTo>
                    <a:pt x="156591" y="939800"/>
                  </a:lnTo>
                  <a:cubicBezTo>
                    <a:pt x="70104" y="939800"/>
                    <a:pt x="0" y="869696"/>
                    <a:pt x="0" y="7832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255000" cy="95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SAMSUNG PRISM GenAI HACKATHON • 3RD EDITION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88720" y="2230755"/>
            <a:ext cx="15864840" cy="238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Smart Guided Troubleshooting Engine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74E9"/>
                </a:solidFill>
                <a:latin typeface="Arial"/>
                <a:ea typeface="Arial"/>
                <a:cs typeface="Arial"/>
                <a:sym typeface="Arial"/>
              </a:rPr>
              <a:t>Transforming Vague Galaxy Device Complaints into One-Tap Deeplinked Fixes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7280" y="4937760"/>
            <a:ext cx="7680960" cy="1783080"/>
            <a:chOff x="0" y="0"/>
            <a:chExt cx="1024128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lnTo>
                    <a:pt x="9845040" y="0"/>
                  </a:lnTo>
                  <a:cubicBezTo>
                    <a:pt x="10063861" y="0"/>
                    <a:pt x="10241280" y="177419"/>
                    <a:pt x="10241280" y="396240"/>
                  </a:cubicBezTo>
                  <a:lnTo>
                    <a:pt x="10241280" y="1981200"/>
                  </a:lnTo>
                  <a:cubicBezTo>
                    <a:pt x="10241280" y="2200021"/>
                    <a:pt x="10063861" y="2377440"/>
                    <a:pt x="9845040" y="2377440"/>
                  </a:cubicBezTo>
                  <a:lnTo>
                    <a:pt x="396240" y="2377440"/>
                  </a:lnTo>
                  <a:cubicBezTo>
                    <a:pt x="177419" y="2377440"/>
                    <a:pt x="0" y="2200021"/>
                    <a:pt x="0" y="19812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0241280" cy="239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THEME ID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Theme 02 (Troubleshooting)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0" y="4937760"/>
            <a:ext cx="7680960" cy="1783080"/>
            <a:chOff x="0" y="0"/>
            <a:chExt cx="10241280" cy="2377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lnTo>
                    <a:pt x="9845040" y="0"/>
                  </a:lnTo>
                  <a:cubicBezTo>
                    <a:pt x="10063861" y="0"/>
                    <a:pt x="10241280" y="177419"/>
                    <a:pt x="10241280" y="396240"/>
                  </a:cubicBezTo>
                  <a:lnTo>
                    <a:pt x="10241280" y="1981200"/>
                  </a:lnTo>
                  <a:cubicBezTo>
                    <a:pt x="10241280" y="2200021"/>
                    <a:pt x="10063861" y="2377440"/>
                    <a:pt x="9845040" y="2377440"/>
                  </a:cubicBezTo>
                  <a:lnTo>
                    <a:pt x="396240" y="2377440"/>
                  </a:lnTo>
                  <a:cubicBezTo>
                    <a:pt x="177419" y="2377440"/>
                    <a:pt x="0" y="2200021"/>
                    <a:pt x="0" y="19812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241280" cy="239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NAME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QUARK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6995160"/>
            <a:ext cx="7680960" cy="1783080"/>
            <a:chOff x="0" y="0"/>
            <a:chExt cx="10241280" cy="2377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lnTo>
                    <a:pt x="9845040" y="0"/>
                  </a:lnTo>
                  <a:cubicBezTo>
                    <a:pt x="10063861" y="0"/>
                    <a:pt x="10241280" y="177419"/>
                    <a:pt x="10241280" y="396240"/>
                  </a:cubicBezTo>
                  <a:lnTo>
                    <a:pt x="10241280" y="1981200"/>
                  </a:lnTo>
                  <a:cubicBezTo>
                    <a:pt x="10241280" y="2200021"/>
                    <a:pt x="10063861" y="2377440"/>
                    <a:pt x="9845040" y="2377440"/>
                  </a:cubicBezTo>
                  <a:lnTo>
                    <a:pt x="396240" y="2377440"/>
                  </a:lnTo>
                  <a:cubicBezTo>
                    <a:pt x="177419" y="2377440"/>
                    <a:pt x="0" y="2200021"/>
                    <a:pt x="0" y="19812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241280" cy="239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COLLEGE NAME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SRMIST  KTR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9720" y="6995160"/>
            <a:ext cx="7680960" cy="1783080"/>
            <a:chOff x="0" y="0"/>
            <a:chExt cx="10241280" cy="2377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396240"/>
                  </a:moveTo>
                  <a:cubicBezTo>
                    <a:pt x="0" y="177419"/>
                    <a:pt x="177419" y="0"/>
                    <a:pt x="396240" y="0"/>
                  </a:cubicBezTo>
                  <a:lnTo>
                    <a:pt x="9845040" y="0"/>
                  </a:lnTo>
                  <a:cubicBezTo>
                    <a:pt x="10063861" y="0"/>
                    <a:pt x="10241280" y="177419"/>
                    <a:pt x="10241280" y="396240"/>
                  </a:cubicBezTo>
                  <a:lnTo>
                    <a:pt x="10241280" y="1981200"/>
                  </a:lnTo>
                  <a:cubicBezTo>
                    <a:pt x="10241280" y="2200021"/>
                    <a:pt x="10063861" y="2377440"/>
                    <a:pt x="9845040" y="2377440"/>
                  </a:cubicBezTo>
                  <a:lnTo>
                    <a:pt x="396240" y="2377440"/>
                  </a:lnTo>
                  <a:cubicBezTo>
                    <a:pt x="177419" y="2377440"/>
                    <a:pt x="0" y="2200021"/>
                    <a:pt x="0" y="19812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241280" cy="2396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 REPOSITORY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github.com/amriteshand/Samsung-Prism-QUARK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7755" y="8768715"/>
            <a:ext cx="16112033" cy="979170"/>
            <a:chOff x="0" y="0"/>
            <a:chExt cx="21482710" cy="1305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82686" cy="1305560"/>
            </a:xfrm>
            <a:custGeom>
              <a:avLst/>
              <a:gdLst/>
              <a:ahLst/>
              <a:cxnLst/>
              <a:rect r="r" b="b" t="t" l="l"/>
              <a:pathLst>
                <a:path h="1305560" w="21482686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1265135" y="0"/>
                  </a:lnTo>
                  <a:cubicBezTo>
                    <a:pt x="21385276" y="0"/>
                    <a:pt x="21482686" y="97409"/>
                    <a:pt x="21482686" y="217551"/>
                  </a:cubicBezTo>
                  <a:lnTo>
                    <a:pt x="21482686" y="1088009"/>
                  </a:lnTo>
                  <a:cubicBezTo>
                    <a:pt x="21482686" y="1208151"/>
                    <a:pt x="21385276" y="1305560"/>
                    <a:pt x="21265135" y="1305560"/>
                  </a:cubicBezTo>
                  <a:lnTo>
                    <a:pt x="217551" y="1305560"/>
                  </a:lnTo>
                  <a:cubicBezTo>
                    <a:pt x="97409" y="1305560"/>
                    <a:pt x="0" y="1208151"/>
                    <a:pt x="0" y="10880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482710" cy="1324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Members: AMRITESH ANAND (anandamritesh2006@gmail.com) | HIMANSHU (raohimanshu0008@gmail.com) |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Manual Support Triage Wastes 15 Minutes Per Call Across Millions of Vague Galaxy Complaints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7837170" cy="6877050"/>
            <a:chOff x="0" y="0"/>
            <a:chExt cx="10449560" cy="916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495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449560">
                  <a:moveTo>
                    <a:pt x="0" y="1528318"/>
                  </a:moveTo>
                  <a:cubicBezTo>
                    <a:pt x="0" y="684276"/>
                    <a:pt x="684276" y="0"/>
                    <a:pt x="1528318" y="0"/>
                  </a:cubicBezTo>
                  <a:lnTo>
                    <a:pt x="8921242" y="0"/>
                  </a:lnTo>
                  <a:cubicBezTo>
                    <a:pt x="9765284" y="0"/>
                    <a:pt x="10449560" y="684276"/>
                    <a:pt x="10449560" y="1528318"/>
                  </a:cubicBezTo>
                  <a:lnTo>
                    <a:pt x="10449560" y="7641082"/>
                  </a:lnTo>
                  <a:cubicBezTo>
                    <a:pt x="10449560" y="8485124"/>
                    <a:pt x="9765284" y="9169400"/>
                    <a:pt x="8921242" y="9169400"/>
                  </a:cubicBezTo>
                  <a:lnTo>
                    <a:pt x="1528318" y="9169400"/>
                  </a:lnTo>
                  <a:cubicBezTo>
                    <a:pt x="684276" y="9169400"/>
                    <a:pt x="0" y="8485124"/>
                    <a:pt x="0" y="76410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2907030"/>
            <a:ext cx="7086600" cy="623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DC2626"/>
                </a:solidFill>
                <a:latin typeface="Arial Bold"/>
                <a:ea typeface="Arial Bold"/>
                <a:cs typeface="Arial Bold"/>
                <a:sym typeface="Arial Bold"/>
              </a:rPr>
              <a:t>CURRENT STATE &amp; OPERATIONAL BOTTLENECK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Vague Complaint Expressions: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Smartphone users describe technical issues colloquially (e.g., 'screen flickers and battery dies fast' or 'swipe gestures wrong direction').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Manual Agent Translation: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agents take ~15 minutes per scenario searching unstructured Knowledge Base (SILS) articles to translate complaints into steps.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High User Friction: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Customers must manually hunt through deeply nested device sub-menus (Settings &gt; Display &gt; Navigation bar) to perform remediation steps.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62618" y="2596515"/>
            <a:ext cx="7837170" cy="6877050"/>
            <a:chOff x="0" y="0"/>
            <a:chExt cx="10449560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495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449560">
                  <a:moveTo>
                    <a:pt x="0" y="1528318"/>
                  </a:moveTo>
                  <a:cubicBezTo>
                    <a:pt x="0" y="684276"/>
                    <a:pt x="684276" y="0"/>
                    <a:pt x="1528318" y="0"/>
                  </a:cubicBezTo>
                  <a:lnTo>
                    <a:pt x="8921242" y="0"/>
                  </a:lnTo>
                  <a:cubicBezTo>
                    <a:pt x="9765284" y="0"/>
                    <a:pt x="10449560" y="684276"/>
                    <a:pt x="10449560" y="1528318"/>
                  </a:cubicBezTo>
                  <a:lnTo>
                    <a:pt x="10449560" y="7641082"/>
                  </a:lnTo>
                  <a:cubicBezTo>
                    <a:pt x="10449560" y="8485124"/>
                    <a:pt x="9765284" y="9169400"/>
                    <a:pt x="8921242" y="9169400"/>
                  </a:cubicBezTo>
                  <a:lnTo>
                    <a:pt x="1528318" y="9169400"/>
                  </a:lnTo>
                  <a:cubicBezTo>
                    <a:pt x="684276" y="9169400"/>
                    <a:pt x="0" y="8485124"/>
                    <a:pt x="0" y="76410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737903" y="2907030"/>
            <a:ext cx="7086600" cy="623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TARGET ENGINE VISION &amp; MANDATE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Automated Query Normalisation: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 unstructured natural language into canonical technical queries with generated paraphrase keys.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Schema-Driven Structured JSON: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 ordered goal, categorized actions (auto, manual, critical), and discrete UI steps bound to source text.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One-Tap Bixby Deeplinking: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Attach exact masked URI deeplinks (bixby://...) to make every remediation step actionable with a single tap.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Sub-300ms Fast-Path Caching: </a:t>
            </a:r>
            <a:r>
              <a:rPr lang="en-US" sz="21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Serve pre-validated troubleshooting plans in &lt; 300 ms for recurring queries without model inference overhead.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Static FAQs and General LLMs Fail on Actionability, Speed, and URL Leak Safety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97280" y="2606040"/>
          <a:ext cx="16059150" cy="6858000"/>
        </p:xfrm>
        <a:graphic>
          <a:graphicData uri="http://schemas.openxmlformats.org/drawingml/2006/table">
            <a:tbl>
              <a:tblPr/>
              <a:tblGrid>
                <a:gridCol w="3148048"/>
                <a:gridCol w="4243021"/>
                <a:gridCol w="4243021"/>
                <a:gridCol w="4425060"/>
              </a:tblGrid>
              <a:tr h="1371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Evaluation Metric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Static FAQ / Web Articles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Pure LLM Prompting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Our Troubleshooting Engine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E9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Actionability &amp; Deeplinking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Manual text instructions; user hunts through sub-menus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Generates generic web links (http://) or broken URIs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Exact masked Bixby deeplinks (bixby://...) for one-tap navigation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Response Latency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user effort (~15 mins per scenario)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Slow generation latency (&gt; 8000 ms cold query)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Sub-300 ms P95 latency via fast-path semantic cache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Safety &amp; URL Leaks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Contains external website links &amp; ads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Prone to hallucinating unvalidated web URLs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Strict 0 URL leak enforcement via Pydantic schema harness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Cost &amp; Scalability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manual support labor overhead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token cost per query on un-cached LLM calls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Optimized hybrid vector search &amp; caching across 10k+ scenarios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Two-Stage LLM Retrieval Architecture Drives Sub-300ms Resolution and Zero URL Leakage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3722370" cy="6877050"/>
            <a:chOff x="0" y="0"/>
            <a:chExt cx="4963160" cy="916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963160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0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 Query Enrichment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Normalises raw complaint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Generates canonical query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Creates 8-10 paraphrase keys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02555" y="2596515"/>
            <a:ext cx="3722370" cy="6877050"/>
            <a:chOff x="0" y="0"/>
            <a:chExt cx="4963160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963160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Structure Extraction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Parses SILS reference text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Extracts Goal &amp; UI Steps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Categorizes: auto / manual / critical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17355" y="2596515"/>
            <a:ext cx="3722370" cy="6877050"/>
            <a:chOff x="0" y="0"/>
            <a:chExt cx="4963160" cy="9169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963160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Deeplink &amp; Ordering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Hybrid BM25 + Dense Search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Maps steps to bixby:// URIs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Safe toggles first -&gt; Critical last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32155" y="2596515"/>
            <a:ext cx="3722370" cy="6877050"/>
            <a:chOff x="0" y="0"/>
            <a:chExt cx="4963160" cy="9169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963160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Fast-Path Cache &amp; API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Persistent paraphrase cache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Sub-300ms cache hit response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REST API (/v1/troubleshoot)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POST /v1/troubleshoot Yields One-Tap Bixby Deeplinks with Zero Markdown Overhead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7151370" cy="6877050"/>
            <a:chOff x="0" y="0"/>
            <a:chExt cx="9535160" cy="916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35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535160">
                  <a:moveTo>
                    <a:pt x="0" y="1528318"/>
                  </a:moveTo>
                  <a:cubicBezTo>
                    <a:pt x="0" y="684276"/>
                    <a:pt x="684276" y="0"/>
                    <a:pt x="1528318" y="0"/>
                  </a:cubicBezTo>
                  <a:lnTo>
                    <a:pt x="8006842" y="0"/>
                  </a:lnTo>
                  <a:cubicBezTo>
                    <a:pt x="8850884" y="0"/>
                    <a:pt x="9535160" y="684276"/>
                    <a:pt x="9535160" y="1528318"/>
                  </a:cubicBezTo>
                  <a:lnTo>
                    <a:pt x="9535160" y="7641082"/>
                  </a:lnTo>
                  <a:cubicBezTo>
                    <a:pt x="9535160" y="8485124"/>
                    <a:pt x="8850884" y="9169400"/>
                    <a:pt x="8006842" y="9169400"/>
                  </a:cubicBezTo>
                  <a:lnTo>
                    <a:pt x="1528318" y="9169400"/>
                  </a:lnTo>
                  <a:cubicBezTo>
                    <a:pt x="684276" y="9169400"/>
                    <a:pt x="0" y="8485124"/>
                    <a:pt x="0" y="7641082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2887980"/>
            <a:ext cx="6400800" cy="62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74E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SAMPLE INPUT QUERY (POST /v1/troubleshoot)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  "query": "phone swipe gestures wrong direction after app install",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  "siis_response": "&lt;optional raw text context&gt;"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Key Input Features: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Colloquial phrasing handling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Multi-intent issue extraction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Handles missing or provided raw context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76818" y="2596515"/>
            <a:ext cx="8522970" cy="6877050"/>
            <a:chOff x="0" y="0"/>
            <a:chExt cx="11363960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639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1363960">
                  <a:moveTo>
                    <a:pt x="0" y="1528318"/>
                  </a:moveTo>
                  <a:cubicBezTo>
                    <a:pt x="0" y="684276"/>
                    <a:pt x="684276" y="0"/>
                    <a:pt x="1528318" y="0"/>
                  </a:cubicBezTo>
                  <a:lnTo>
                    <a:pt x="9835642" y="0"/>
                  </a:lnTo>
                  <a:cubicBezTo>
                    <a:pt x="10679684" y="0"/>
                    <a:pt x="11363960" y="684276"/>
                    <a:pt x="11363960" y="1528318"/>
                  </a:cubicBezTo>
                  <a:lnTo>
                    <a:pt x="11363960" y="7641082"/>
                  </a:lnTo>
                  <a:cubicBezTo>
                    <a:pt x="11363960" y="8485124"/>
                    <a:pt x="10679684" y="9169400"/>
                    <a:pt x="9835642" y="9169400"/>
                  </a:cubicBezTo>
                  <a:lnTo>
                    <a:pt x="1528318" y="9169400"/>
                  </a:lnTo>
                  <a:cubicBezTo>
                    <a:pt x="684276" y="9169400"/>
                    <a:pt x="0" y="8485124"/>
                    <a:pt x="0" y="76410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052103" y="2887980"/>
            <a:ext cx="7772400" cy="62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74E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STRUCTURED RESPONSE CONTRACT (schema.py)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"contexts": [{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"goal": "Follow these steps to perform Swipe Navigation Troubleshooting",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"title": "Swipe navigation settings",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"score": 0.93,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"actions": [{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"actionName": "Configure Navigation Bar Settings",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"category": "auto",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"stepGroups": [{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"steps": ["Navigate to Settings", "Tap Display", "Tap Navigation bar"],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"actionableDeeplink": {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"deeplink": "bixby://dummy_positive",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"description": "Open navigation bar settings"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  }]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  }]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}],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"meta": {"latency_ms": 212, "cache_hit": true, "cost_usd": 0.0}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FastAPI, Pydantic Schema Contracts, and Hybrid Vector Search Power the Core Engine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7745273" cy="3173730"/>
            <a:chOff x="0" y="0"/>
            <a:chExt cx="10327030" cy="4231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7005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327005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9621774" y="0"/>
                  </a:lnTo>
                  <a:cubicBezTo>
                    <a:pt x="10011283" y="0"/>
                    <a:pt x="10327005" y="315722"/>
                    <a:pt x="10327005" y="705231"/>
                  </a:cubicBezTo>
                  <a:lnTo>
                    <a:pt x="10327005" y="3526409"/>
                  </a:lnTo>
                  <a:cubicBezTo>
                    <a:pt x="10327005" y="3915918"/>
                    <a:pt x="10011283" y="4231640"/>
                    <a:pt x="9621774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327030" cy="426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CONTAINERISED MICROSERVICE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/ Uvicorn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Asynchronous REST API service handling POST /v1/troubleshoot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Docker containerised deployment with cold-start optimization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Comprehensive health checks (/health) and runtime execution metrics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0195" y="2596515"/>
            <a:ext cx="7745273" cy="3173730"/>
            <a:chOff x="0" y="0"/>
            <a:chExt cx="10327030" cy="4231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27005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327005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9621774" y="0"/>
                  </a:lnTo>
                  <a:cubicBezTo>
                    <a:pt x="10011283" y="0"/>
                    <a:pt x="10327005" y="315722"/>
                    <a:pt x="10327005" y="705231"/>
                  </a:cubicBezTo>
                  <a:lnTo>
                    <a:pt x="10327005" y="3526409"/>
                  </a:lnTo>
                  <a:cubicBezTo>
                    <a:pt x="10327005" y="3915918"/>
                    <a:pt x="10011283" y="4231640"/>
                    <a:pt x="9621774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327030" cy="426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STRICT SCHEMA CONTRACT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Pydantic v2 Models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Data contract defined in schema.py enforcing strict length limits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Programmatic URL stripping prevents absolute web URL leaks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Automatic validation of Goal, Action, and Deeplink objects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6025515"/>
            <a:ext cx="7745273" cy="3173730"/>
            <a:chOff x="0" y="0"/>
            <a:chExt cx="10327030" cy="4231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27005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327005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9621774" y="0"/>
                  </a:lnTo>
                  <a:cubicBezTo>
                    <a:pt x="10011283" y="0"/>
                    <a:pt x="10327005" y="315722"/>
                    <a:pt x="10327005" y="705231"/>
                  </a:cubicBezTo>
                  <a:lnTo>
                    <a:pt x="10327005" y="3526409"/>
                  </a:lnTo>
                  <a:cubicBezTo>
                    <a:pt x="10327005" y="3915918"/>
                    <a:pt x="10011283" y="4231640"/>
                    <a:pt x="9621774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327030" cy="426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HYBRID RETRIEVAL ENGINE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BM25 + Dense Vectors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Dual retrieval over indexed masked in-app Settings URIs (bixby://...)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BM25 keyword matching + Dense embeddings over metadata fields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Prevents parent-menu misallocations; forces exact screen targets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0195" y="6025515"/>
            <a:ext cx="7745273" cy="3173730"/>
            <a:chOff x="0" y="0"/>
            <a:chExt cx="10327030" cy="4231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27005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327005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9621774" y="0"/>
                  </a:lnTo>
                  <a:cubicBezTo>
                    <a:pt x="10011283" y="0"/>
                    <a:pt x="10327005" y="315722"/>
                    <a:pt x="10327005" y="705231"/>
                  </a:cubicBezTo>
                  <a:lnTo>
                    <a:pt x="10327005" y="3526409"/>
                  </a:lnTo>
                  <a:cubicBezTo>
                    <a:pt x="10327005" y="3915918"/>
                    <a:pt x="10011283" y="4231640"/>
                    <a:pt x="9621774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327030" cy="426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CACHING &amp; LLM INFERENCE</a:t>
              </a:r>
            </a:p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Semantic Paraphrase Cache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Stores pre-validated plans keyed by semantic query variations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Achieves P95 &lt; 300 ms response time on cache hits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Tracks token usage and query cost metadata (meta.cost_usd)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Scales Across 10,000+ Support Scenarios with FAST-PATH RESPONSE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5189982" cy="6877050"/>
            <a:chOff x="0" y="0"/>
            <a:chExt cx="6919976" cy="916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19976" cy="9169400"/>
            </a:xfrm>
            <a:custGeom>
              <a:avLst/>
              <a:gdLst/>
              <a:ahLst/>
              <a:cxnLst/>
              <a:rect r="r" b="b" t="t" l="l"/>
              <a:pathLst>
                <a:path h="9169400" w="6919976">
                  <a:moveTo>
                    <a:pt x="0" y="1153414"/>
                  </a:moveTo>
                  <a:cubicBezTo>
                    <a:pt x="0" y="516382"/>
                    <a:pt x="516382" y="0"/>
                    <a:pt x="1153414" y="0"/>
                  </a:cubicBezTo>
                  <a:lnTo>
                    <a:pt x="5766562" y="0"/>
                  </a:lnTo>
                  <a:cubicBezTo>
                    <a:pt x="6403594" y="0"/>
                    <a:pt x="6919976" y="516382"/>
                    <a:pt x="6919976" y="1153414"/>
                  </a:cubicBezTo>
                  <a:lnTo>
                    <a:pt x="6919976" y="8015986"/>
                  </a:lnTo>
                  <a:cubicBezTo>
                    <a:pt x="6919976" y="8653018"/>
                    <a:pt x="6403594" y="9169400"/>
                    <a:pt x="5766562" y="9169400"/>
                  </a:cubicBezTo>
                  <a:lnTo>
                    <a:pt x="1153414" y="9169400"/>
                  </a:lnTo>
                  <a:cubicBezTo>
                    <a:pt x="516382" y="9169400"/>
                    <a:pt x="0" y="8653018"/>
                    <a:pt x="0" y="80159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919976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98% LATENCY REDUCTION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</a:t>
              </a:r>
              <a:r>
                <a:rPr lang="en-US" sz="4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220 ms P95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Pre-validated query variations can be served through the fast-path semantic cache without repeated generation overhead.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46723" y="2596515"/>
            <a:ext cx="5189982" cy="6877050"/>
            <a:chOff x="0" y="0"/>
            <a:chExt cx="6919976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19976" cy="9169400"/>
            </a:xfrm>
            <a:custGeom>
              <a:avLst/>
              <a:gdLst/>
              <a:ahLst/>
              <a:cxnLst/>
              <a:rect r="r" b="b" t="t" l="l"/>
              <a:pathLst>
                <a:path h="9169400" w="6919976">
                  <a:moveTo>
                    <a:pt x="0" y="1153414"/>
                  </a:moveTo>
                  <a:cubicBezTo>
                    <a:pt x="0" y="516382"/>
                    <a:pt x="516382" y="0"/>
                    <a:pt x="1153414" y="0"/>
                  </a:cubicBezTo>
                  <a:lnTo>
                    <a:pt x="5766562" y="0"/>
                  </a:lnTo>
                  <a:cubicBezTo>
                    <a:pt x="6403594" y="0"/>
                    <a:pt x="6919976" y="516382"/>
                    <a:pt x="6919976" y="1153414"/>
                  </a:cubicBezTo>
                  <a:lnTo>
                    <a:pt x="6919976" y="8015986"/>
                  </a:lnTo>
                  <a:cubicBezTo>
                    <a:pt x="6919976" y="8653018"/>
                    <a:pt x="6403594" y="9169400"/>
                    <a:pt x="5766562" y="9169400"/>
                  </a:cubicBezTo>
                  <a:lnTo>
                    <a:pt x="1153414" y="9169400"/>
                  </a:lnTo>
                  <a:cubicBezTo>
                    <a:pt x="516382" y="9169400"/>
                    <a:pt x="0" y="8653018"/>
                    <a:pt x="0" y="80159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919976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10,000+ SCENARIO SCALE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Primary Domains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to process customer complaints across Battery, Display, Camera, and Performance with reusable schema contracts.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05691" y="2596515"/>
            <a:ext cx="5189982" cy="6877050"/>
            <a:chOff x="0" y="0"/>
            <a:chExt cx="6919976" cy="9169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9976" cy="9169400"/>
            </a:xfrm>
            <a:custGeom>
              <a:avLst/>
              <a:gdLst/>
              <a:ahLst/>
              <a:cxnLst/>
              <a:rect r="r" b="b" t="t" l="l"/>
              <a:pathLst>
                <a:path h="9169400" w="6919976">
                  <a:moveTo>
                    <a:pt x="0" y="1153414"/>
                  </a:moveTo>
                  <a:cubicBezTo>
                    <a:pt x="0" y="516382"/>
                    <a:pt x="516382" y="0"/>
                    <a:pt x="1153414" y="0"/>
                  </a:cubicBezTo>
                  <a:lnTo>
                    <a:pt x="5766562" y="0"/>
                  </a:lnTo>
                  <a:cubicBezTo>
                    <a:pt x="6403594" y="0"/>
                    <a:pt x="6919976" y="516382"/>
                    <a:pt x="6919976" y="1153414"/>
                  </a:cubicBezTo>
                  <a:lnTo>
                    <a:pt x="6919976" y="8015986"/>
                  </a:lnTo>
                  <a:cubicBezTo>
                    <a:pt x="6919976" y="8653018"/>
                    <a:pt x="6403594" y="9169400"/>
                    <a:pt x="5766562" y="9169400"/>
                  </a:cubicBezTo>
                  <a:lnTo>
                    <a:pt x="1153414" y="9169400"/>
                  </a:lnTo>
                  <a:cubicBezTo>
                    <a:pt x="516382" y="9169400"/>
                    <a:pt x="0" y="8653018"/>
                    <a:pt x="0" y="80159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919976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USER FRICTION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1-Tap Deeplinking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bixby:// URI invocation launches exact Settings screens, eliminating multi-nested UI menu searching.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Achieves 100% Schema Conformance, Sub-300ms P95 Cache Latency, and Zero URL Leaks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97280" y="2606040"/>
          <a:ext cx="10267950" cy="6858000"/>
        </p:xfrm>
        <a:graphic>
          <a:graphicData uri="http://schemas.openxmlformats.org/drawingml/2006/table">
            <a:tbl>
              <a:tblPr/>
              <a:tblGrid>
                <a:gridCol w="4107180"/>
                <a:gridCol w="3011932"/>
                <a:gridCol w="3148838"/>
              </a:tblGrid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Evaluation Metric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Target Benchmark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Achieved 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Schema Conformance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&gt;= 99%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100% Pydantic Valid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Absolute URL Leaks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Leaks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 Leaks (Programmatic Filter)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Fast-Path Cache Latency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P95 &lt;= 300 ms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&lt; 220 ms (P95)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 Cache Hit Rate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&gt;= 80%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E74E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84.5% across query variations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1649075" y="2596515"/>
            <a:ext cx="5550713" cy="6877050"/>
            <a:chOff x="0" y="0"/>
            <a:chExt cx="7400950" cy="9169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01052" cy="9169400"/>
            </a:xfrm>
            <a:custGeom>
              <a:avLst/>
              <a:gdLst/>
              <a:ahLst/>
              <a:cxnLst/>
              <a:rect r="r" b="b" t="t" l="l"/>
              <a:pathLst>
                <a:path h="9169400" w="7401052">
                  <a:moveTo>
                    <a:pt x="0" y="1233551"/>
                  </a:moveTo>
                  <a:cubicBezTo>
                    <a:pt x="0" y="552323"/>
                    <a:pt x="552323" y="0"/>
                    <a:pt x="1233551" y="0"/>
                  </a:cubicBezTo>
                  <a:lnTo>
                    <a:pt x="6167501" y="0"/>
                  </a:lnTo>
                  <a:cubicBezTo>
                    <a:pt x="6848729" y="0"/>
                    <a:pt x="7401052" y="552323"/>
                    <a:pt x="7401052" y="1233551"/>
                  </a:cubicBezTo>
                  <a:lnTo>
                    <a:pt x="7401052" y="7935849"/>
                  </a:lnTo>
                  <a:cubicBezTo>
                    <a:pt x="7401052" y="8617077"/>
                    <a:pt x="6848729" y="9169400"/>
                    <a:pt x="6167501" y="9169400"/>
                  </a:cubicBezTo>
                  <a:lnTo>
                    <a:pt x="1233551" y="9169400"/>
                  </a:lnTo>
                  <a:cubicBezTo>
                    <a:pt x="552323" y="9169400"/>
                    <a:pt x="0" y="8617077"/>
                    <a:pt x="0" y="79358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024360" y="2887980"/>
            <a:ext cx="4800143" cy="625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9770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KNOWN LIMITATIONS &amp; EDGE CASES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Multi-Intent Ambiguity: </a:t>
            </a: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Complex queries spanning unrelated device domains fallback gracefully to 'no match' with empty context.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Unindexed Settings URIs: </a:t>
            </a: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Unindexed actions resolve to bixby://dummy_positive safety placeholder.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Cold Query LLM Overhead: </a:t>
            </a: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Un-cached cold generations take up to 8s; mitigated by offline paraphrase pre-warming.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Four-Phase Roadmap Advances Engine from Schema Harness to Production PRISM Worklet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3722370" cy="6877050"/>
            <a:chOff x="0" y="0"/>
            <a:chExt cx="4963160" cy="916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63160" cy="920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1: Foundation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Schema validation harness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Pydantic rule enforcement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Baseline reference parsing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02555" y="2596515"/>
            <a:ext cx="3722370" cy="6877050"/>
            <a:chOff x="0" y="0"/>
            <a:chExt cx="4963160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963160" cy="920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2: Hybrid Index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BM25 + Dense vector search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Masked URI catalog mapping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Safe step ordering logic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17355" y="2596515"/>
            <a:ext cx="3722370" cy="6877050"/>
            <a:chOff x="0" y="0"/>
            <a:chExt cx="4963160" cy="9169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963160" cy="920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0B98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3: Fast Caching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Local paraphrase cache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Sub-300ms hit latency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Stress test &amp; benchmarking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32155" y="2596515"/>
            <a:ext cx="3722370" cy="6877050"/>
            <a:chOff x="0" y="0"/>
            <a:chExt cx="4963160" cy="9169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63160" cy="9169400"/>
            </a:xfrm>
            <a:custGeom>
              <a:avLst/>
              <a:gdLst/>
              <a:ahLst/>
              <a:cxnLst/>
              <a:rect r="r" b="b" t="t" l="l"/>
              <a:pathLst>
                <a:path h="9169400" w="4963160">
                  <a:moveTo>
                    <a:pt x="0" y="827151"/>
                  </a:moveTo>
                  <a:cubicBezTo>
                    <a:pt x="0" y="370332"/>
                    <a:pt x="370332" y="0"/>
                    <a:pt x="827151" y="0"/>
                  </a:cubicBezTo>
                  <a:lnTo>
                    <a:pt x="4136009" y="0"/>
                  </a:lnTo>
                  <a:cubicBezTo>
                    <a:pt x="4592828" y="0"/>
                    <a:pt x="4963160" y="370332"/>
                    <a:pt x="4963160" y="827151"/>
                  </a:cubicBezTo>
                  <a:lnTo>
                    <a:pt x="4963160" y="8342249"/>
                  </a:lnTo>
                  <a:cubicBezTo>
                    <a:pt x="4963160" y="8799068"/>
                    <a:pt x="4592828" y="9169400"/>
                    <a:pt x="4136009" y="9169400"/>
                  </a:cubicBezTo>
                  <a:lnTo>
                    <a:pt x="827151" y="9169400"/>
                  </a:lnTo>
                  <a:cubicBezTo>
                    <a:pt x="370332" y="9169400"/>
                    <a:pt x="0" y="8799068"/>
                    <a:pt x="0" y="83422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63160" cy="920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STEPS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4: PRISM Deploy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Integration with Samsung Bixby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Multi-intent decomposition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PRISM Worklet extension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Pydantic Fallback Harness and Token Cost Analytics Provide Production-Grade Governance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72665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7755" y="2596515"/>
            <a:ext cx="5189982" cy="6877050"/>
            <a:chOff x="0" y="0"/>
            <a:chExt cx="6919976" cy="9169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19976" cy="9169400"/>
            </a:xfrm>
            <a:custGeom>
              <a:avLst/>
              <a:gdLst/>
              <a:ahLst/>
              <a:cxnLst/>
              <a:rect r="r" b="b" t="t" l="l"/>
              <a:pathLst>
                <a:path h="9169400" w="6919976">
                  <a:moveTo>
                    <a:pt x="0" y="1153414"/>
                  </a:moveTo>
                  <a:cubicBezTo>
                    <a:pt x="0" y="516382"/>
                    <a:pt x="516382" y="0"/>
                    <a:pt x="1153414" y="0"/>
                  </a:cubicBezTo>
                  <a:lnTo>
                    <a:pt x="5766562" y="0"/>
                  </a:lnTo>
                  <a:cubicBezTo>
                    <a:pt x="6403594" y="0"/>
                    <a:pt x="6919976" y="516382"/>
                    <a:pt x="6919976" y="1153414"/>
                  </a:cubicBezTo>
                  <a:lnTo>
                    <a:pt x="6919976" y="8015986"/>
                  </a:lnTo>
                  <a:cubicBezTo>
                    <a:pt x="6919976" y="8653018"/>
                    <a:pt x="6403594" y="9169400"/>
                    <a:pt x="5766562" y="9169400"/>
                  </a:cubicBezTo>
                  <a:lnTo>
                    <a:pt x="1153414" y="9169400"/>
                  </a:lnTo>
                  <a:cubicBezTo>
                    <a:pt x="516382" y="9169400"/>
                    <a:pt x="0" y="8653018"/>
                    <a:pt x="0" y="80159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919976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01. DETERMINISTIC FALLBACK HARNESS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Zero Absolute URL Leaks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Application-layer Pydantic validators inspect generated strings and strip unverified absolute HTTP/HTTPS URLs before serving.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46723" y="2596515"/>
            <a:ext cx="5189982" cy="6877050"/>
            <a:chOff x="0" y="0"/>
            <a:chExt cx="6919976" cy="9169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19976" cy="9169400"/>
            </a:xfrm>
            <a:custGeom>
              <a:avLst/>
              <a:gdLst/>
              <a:ahLst/>
              <a:cxnLst/>
              <a:rect r="r" b="b" t="t" l="l"/>
              <a:pathLst>
                <a:path h="9169400" w="6919976">
                  <a:moveTo>
                    <a:pt x="0" y="1153414"/>
                  </a:moveTo>
                  <a:cubicBezTo>
                    <a:pt x="0" y="516382"/>
                    <a:pt x="516382" y="0"/>
                    <a:pt x="1153414" y="0"/>
                  </a:cubicBezTo>
                  <a:lnTo>
                    <a:pt x="5766562" y="0"/>
                  </a:lnTo>
                  <a:cubicBezTo>
                    <a:pt x="6403594" y="0"/>
                    <a:pt x="6919976" y="516382"/>
                    <a:pt x="6919976" y="1153414"/>
                  </a:cubicBezTo>
                  <a:lnTo>
                    <a:pt x="6919976" y="8015986"/>
                  </a:lnTo>
                  <a:cubicBezTo>
                    <a:pt x="6919976" y="8653018"/>
                    <a:pt x="6403594" y="9169400"/>
                    <a:pt x="5766562" y="9169400"/>
                  </a:cubicBezTo>
                  <a:lnTo>
                    <a:pt x="1153414" y="9169400"/>
                  </a:lnTo>
                  <a:cubicBezTo>
                    <a:pt x="516382" y="9169400"/>
                    <a:pt x="0" y="8653018"/>
                    <a:pt x="0" y="80159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919976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02. HYBRID MASKED URI RESOLUTION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BM25 + Dense Metadata Matching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Combines exact keyword BM25 indexing with dense semantic vector embeddings over obfuscated bixby:// URIs, preventing parent-menu misallocations.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05691" y="2596515"/>
            <a:ext cx="5189982" cy="6877050"/>
            <a:chOff x="0" y="0"/>
            <a:chExt cx="6919976" cy="9169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9976" cy="9169400"/>
            </a:xfrm>
            <a:custGeom>
              <a:avLst/>
              <a:gdLst/>
              <a:ahLst/>
              <a:cxnLst/>
              <a:rect r="r" b="b" t="t" l="l"/>
              <a:pathLst>
                <a:path h="9169400" w="6919976">
                  <a:moveTo>
                    <a:pt x="0" y="1153414"/>
                  </a:moveTo>
                  <a:cubicBezTo>
                    <a:pt x="0" y="516382"/>
                    <a:pt x="516382" y="0"/>
                    <a:pt x="1153414" y="0"/>
                  </a:cubicBezTo>
                  <a:lnTo>
                    <a:pt x="5766562" y="0"/>
                  </a:lnTo>
                  <a:cubicBezTo>
                    <a:pt x="6403594" y="0"/>
                    <a:pt x="6919976" y="516382"/>
                    <a:pt x="6919976" y="1153414"/>
                  </a:cubicBezTo>
                  <a:lnTo>
                    <a:pt x="6919976" y="8015986"/>
                  </a:lnTo>
                  <a:cubicBezTo>
                    <a:pt x="6919976" y="8653018"/>
                    <a:pt x="6403594" y="9169400"/>
                    <a:pt x="5766562" y="9169400"/>
                  </a:cubicBezTo>
                  <a:lnTo>
                    <a:pt x="1153414" y="9169400"/>
                  </a:lnTo>
                  <a:cubicBezTo>
                    <a:pt x="516382" y="9169400"/>
                    <a:pt x="0" y="8653018"/>
                    <a:pt x="0" y="801598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919976" cy="9197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74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03. REAL-TIME FINOPS &amp; METADATA</a:t>
              </a: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Usage &amp; Cost Tracking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———————————————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API response includes meta.cost_usd, tracking prompt/completion token spend and latency per query for complete cost predictability.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29590"/>
            <a:ext cx="160477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74E9"/>
                </a:solidFill>
                <a:latin typeface="Arial Bold"/>
                <a:ea typeface="Arial Bold"/>
                <a:cs typeface="Arial Bold"/>
                <a:sym typeface="Arial Bold"/>
              </a:rPr>
              <a:t>THEME 02: SMART GUIDED TROUBLESHOOTING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280" y="950595"/>
            <a:ext cx="16047720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172A"/>
                </a:solidFill>
                <a:latin typeface="Georgia Bold"/>
                <a:ea typeface="Georgia Bold"/>
                <a:cs typeface="Georgia Bold"/>
                <a:sym typeface="Georgia Bold"/>
              </a:rPr>
              <a:t>100% Submission Ready: Reproducible GitHub Code, Docker Harness, and Tagged Release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7280" y="2263140"/>
            <a:ext cx="16092983" cy="38100"/>
            <a:chOff x="0" y="0"/>
            <a:chExt cx="2145731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286" cy="50800"/>
            </a:xfrm>
            <a:custGeom>
              <a:avLst/>
              <a:gdLst/>
              <a:ahLst/>
              <a:cxnLst/>
              <a:rect r="r" b="b" t="t" l="l"/>
              <a:pathLst>
                <a:path h="50800" w="21457286">
                  <a:moveTo>
                    <a:pt x="0" y="0"/>
                  </a:moveTo>
                  <a:lnTo>
                    <a:pt x="21457286" y="0"/>
                  </a:lnTo>
                  <a:lnTo>
                    <a:pt x="2145728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86356" y="2606040"/>
          <a:ext cx="16078200" cy="6858000"/>
        </p:xfrm>
        <a:graphic>
          <a:graphicData uri="http://schemas.openxmlformats.org/drawingml/2006/table">
            <a:tbl>
              <a:tblPr/>
              <a:tblGrid>
                <a:gridCol w="4796190"/>
                <a:gridCol w="7170989"/>
                <a:gridCol w="4111020"/>
              </a:tblGrid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Submission Item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Requirement &amp; Guideline Standard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Working Prototype Code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GitHub Repository (Public / Shared)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 - Fully Compliant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Reproducible Setup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README.md + Dockerfile + Requirements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 - Tested Container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5-Minute Demo Video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 - Embedded in Repo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Presentation File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PPT  SRMIST_QUARK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 - Final Submission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Git Release Tag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PRISM_GENAI_HACKATHON_Y2026 tagged commit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0B98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 - Final Tag Created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8720" y="2505075"/>
            <a:ext cx="15910103" cy="266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Thank You!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E74E9"/>
                </a:solidFill>
                <a:latin typeface="Arial"/>
                <a:ea typeface="Arial"/>
                <a:cs typeface="Arial"/>
                <a:sym typeface="Arial"/>
              </a:rPr>
              <a:t>Smart Guided Troubleshooting Engine — Ready for Samsung PRISM Jury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87755" y="5751195"/>
            <a:ext cx="16112033" cy="3036570"/>
            <a:chOff x="0" y="0"/>
            <a:chExt cx="21482710" cy="4048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82686" cy="4048760"/>
            </a:xfrm>
            <a:custGeom>
              <a:avLst/>
              <a:gdLst/>
              <a:ahLst/>
              <a:cxnLst/>
              <a:rect r="r" b="b" t="t" l="l"/>
              <a:pathLst>
                <a:path h="4048760" w="21482686">
                  <a:moveTo>
                    <a:pt x="0" y="674751"/>
                  </a:moveTo>
                  <a:cubicBezTo>
                    <a:pt x="0" y="302133"/>
                    <a:pt x="302133" y="0"/>
                    <a:pt x="674751" y="0"/>
                  </a:cubicBezTo>
                  <a:lnTo>
                    <a:pt x="20807935" y="0"/>
                  </a:lnTo>
                  <a:cubicBezTo>
                    <a:pt x="21180679" y="0"/>
                    <a:pt x="21482686" y="302133"/>
                    <a:pt x="21482686" y="674751"/>
                  </a:cubicBezTo>
                  <a:lnTo>
                    <a:pt x="21482686" y="3374009"/>
                  </a:lnTo>
                  <a:cubicBezTo>
                    <a:pt x="21482686" y="3746754"/>
                    <a:pt x="21180552" y="4048760"/>
                    <a:pt x="20807935" y="4048760"/>
                  </a:cubicBezTo>
                  <a:lnTo>
                    <a:pt x="674751" y="4048760"/>
                  </a:lnTo>
                  <a:cubicBezTo>
                    <a:pt x="302133" y="4048760"/>
                    <a:pt x="0" y="3746627"/>
                    <a:pt x="0" y="3374009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0E74E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482710" cy="4086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LINKS &amp; ACKNOWLEDGEMENTS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GitHub Repository: https://github.com/amriteshand/Samsung-Prism-QUARK (PRISM_GENAI_HACKATHON_Y2026 tagged commit)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Contact Email: anandamritesh2006@gmail.com| College: SRMIST KTR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Organised by the Language AI Team and the PRISM Team, Samsung R&amp;D Institute India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DAHW7Pt6eIc</dc:identifier>
  <dcterms:modified xsi:type="dcterms:W3CDTF">2011-08-01T06:04:30Z</dcterms:modified>
  <cp:revision>1</cp:revision>
  <dc:title>SRMIST_QUARK (1).pptx</dc:title>
</cp:coreProperties>
</file>